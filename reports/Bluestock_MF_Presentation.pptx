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SIP Inflows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(Rs. Crore)</c:v>
                </c:pt>
              </c:strCache>
            </c:strRef>
          </c:tx>
          <c:spPr>
            <a:solidFill>
              <a:srgbClr val="2E75B6"/>
            </a:solidFill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Jan-22</c:v>
                  </c:pt>
                  <c:pt idx="1">
                    <c:v>Jul-22</c:v>
                  </c:pt>
                  <c:pt idx="2">
                    <c:v>Jan-23</c:v>
                  </c:pt>
                  <c:pt idx="3">
                    <c:v>Jul-23</c:v>
                  </c:pt>
                  <c:pt idx="4">
                    <c:v>Jan-24</c:v>
                  </c:pt>
                  <c:pt idx="5">
                    <c:v>Jul-24</c:v>
                  </c:pt>
                  <c:pt idx="6">
                    <c:v>Jan-25</c:v>
                  </c:pt>
                  <c:pt idx="7">
                    <c:v>Dec-25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11517</c:v>
                </c:pt>
                <c:pt idx="1">
                  <c:v>12693</c:v>
                </c:pt>
                <c:pt idx="2">
                  <c:v>14000</c:v>
                </c:pt>
                <c:pt idx="3">
                  <c:v>15245</c:v>
                </c:pt>
                <c:pt idx="4">
                  <c:v>19223</c:v>
                </c:pt>
                <c:pt idx="5">
                  <c:v>23332</c:v>
                </c:pt>
                <c:pt idx="6">
                  <c:v>26000</c:v>
                </c:pt>
                <c:pt idx="7">
                  <c:v>31002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Folio Count Growth (Crore)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Folios (Crore)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Jan-22</c:v>
                  </c:pt>
                  <c:pt idx="1">
                    <c:v>Jan-23</c:v>
                  </c:pt>
                  <c:pt idx="2">
                    <c:v>Jan-24</c:v>
                  </c:pt>
                  <c:pt idx="3">
                    <c:v>Jan-25</c:v>
                  </c:pt>
                  <c:pt idx="4">
                    <c:v>Dec-25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13.26</c:v>
                </c:pt>
                <c:pt idx="1">
                  <c:v>15.84</c:v>
                </c:pt>
                <c:pt idx="2">
                  <c:v>18.6</c:v>
                </c:pt>
                <c:pt idx="3">
                  <c:v>22.49</c:v>
                </c:pt>
                <c:pt idx="4">
                  <c:v>26.12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AUM by Fund House (₹ Lakh Crore)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Dec 2025 (₹ Lakh Crore)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EB8F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D1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E4F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SBI MF</c:v>
                  </c:pt>
                  <c:pt idx="1">
                    <c:v>ICICI Pru</c:v>
                  </c:pt>
                  <c:pt idx="2">
                    <c:v>HDFC MF</c:v>
                  </c:pt>
                  <c:pt idx="3">
                    <c:v>Nippon</c:v>
                  </c:pt>
                  <c:pt idx="4">
                    <c:v>Kotak</c:v>
                  </c:pt>
                  <c:pt idx="5">
                    <c:v>Axis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12.5</c:v>
                </c:pt>
                <c:pt idx="1">
                  <c:v>10.74</c:v>
                </c:pt>
                <c:pt idx="2">
                  <c:v>9.3</c:v>
                </c:pt>
                <c:pt idx="3">
                  <c:v>4.8</c:v>
                </c:pt>
                <c:pt idx="4">
                  <c:v>4.5</c:v>
                </c:pt>
                <c:pt idx="5">
                  <c:v>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Sector Allocation Across Equity Funds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Sector 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Banking</c:v>
                </c:pt>
                <c:pt idx="1">
                  <c:v>IT</c:v>
                </c:pt>
                <c:pt idx="2">
                  <c:v>Pharma</c:v>
                </c:pt>
                <c:pt idx="3">
                  <c:v>Auto</c:v>
                </c:pt>
                <c:pt idx="4">
                  <c:v>Utilities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652</c:v>
                </c:pt>
                <c:pt idx="1">
                  <c:v>455</c:v>
                </c:pt>
                <c:pt idx="2">
                  <c:v>407</c:v>
                </c:pt>
                <c:pt idx="3">
                  <c:v>324</c:v>
                </c:pt>
                <c:pt idx="4">
                  <c:v>266</c:v>
                </c:pt>
                <c:pt idx="5">
                  <c:v>310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Tracking Error vs Nifty 100 (Top 5 Funds)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Tracking Error vs Nifty 100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EB8F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D1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ICICI Pru
Mid Cap</c:v>
                  </c:pt>
                  <c:pt idx="1">
                    <c:v>Axis
Mid Cap</c:v>
                  </c:pt>
                  <c:pt idx="2">
                    <c:v>HDFC
Mid Cap</c:v>
                  </c:pt>
                  <c:pt idx="3">
                    <c:v>Mirae
Large Cap</c:v>
                  </c:pt>
                  <c:pt idx="4">
                    <c:v>Kotak
Flexi Cap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23.2</c:v>
                </c:pt>
                <c:pt idx="1">
                  <c:v>23.77</c:v>
                </c:pt>
                <c:pt idx="2">
                  <c:v>22.87</c:v>
                </c:pt>
                <c:pt idx="3">
                  <c:v>18.97</c:v>
                </c:pt>
                <c:pt idx="4">
                  <c:v>20.64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Highest Daily VaR 95% (Riskiest Funds)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VaR 95%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ECAC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SBI
Small Cap</c:v>
                  </c:pt>
                  <c:pt idx="1">
                    <c:v>Axis
Mid Cap</c:v>
                  </c:pt>
                  <c:pt idx="2">
                    <c:v>AB Sun Life
Mid Cap</c:v>
                  </c:pt>
                  <c:pt idx="3">
                    <c:v>Nippon
Small Cap</c:v>
                  </c:pt>
                  <c:pt idx="4">
                    <c:v>HDFC
Mid Cap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2.69</c:v>
                </c:pt>
                <c:pt idx="1">
                  <c:v>2.62</c:v>
                </c:pt>
                <c:pt idx="2">
                  <c:v>2.6</c:v>
                </c:pt>
                <c:pt idx="3">
                  <c:v>2.54</c:v>
                </c:pt>
                <c:pt idx="4">
                  <c:v>2.45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Engineering, ETL Pipeline &amp; Interactive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Soham Joshi (Physics0070)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Capstone  |  June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Schemes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42976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87K+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42976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Days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42976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Yrs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History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201168" cy="658368"/>
          </a:xfrm>
          <a:prstGeom prst="roundRect">
            <a:avLst>
              <a:gd name="adj" fmla="val 3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14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Fragmentation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NAV, AUM, SIP and holdings exist in separate formats across AMFI, NSE, BSE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55648"/>
            <a:ext cx="201168" cy="658368"/>
          </a:xfrm>
          <a:prstGeom prst="roundRect">
            <a:avLst>
              <a:gd name="adj" fmla="val 3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55648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 Comparison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0756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investors cannot compare funds on Sharpe, Alpha, Beta across AMCs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51176"/>
            <a:ext cx="201168" cy="658368"/>
          </a:xfrm>
          <a:prstGeom prst="roundRect">
            <a:avLst>
              <a:gd name="adj" fmla="val 3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51176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606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Benchmark Tracking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8712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investors do not know if their fund beats its index (tracking error)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46704"/>
            <a:ext cx="201168" cy="658368"/>
          </a:xfrm>
          <a:prstGeom prst="roundRect">
            <a:avLst>
              <a:gd name="adj" fmla="val 3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46704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Blind Spot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6667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AMCs have limited visibility into demographic &amp; geographic SIP patterns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4223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42232"/>
            <a:ext cx="201168" cy="658368"/>
          </a:xfrm>
          <a:prstGeom prst="roundRect">
            <a:avLst>
              <a:gd name="adj" fmla="val 3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42232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197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Reporting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462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MF reports are static PDFs — no self-service drill-down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Datasets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4846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01_fund_master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fund schemes — AMFI codes, AMC, category, expense ratio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02_nav_history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46,000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NAV for all 40 schemes (Jan 2022 – May 2026)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03_aum_by_fund_house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AUM per fund house (lakh crore &amp; crore)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04_monthly_sip_inflows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SIP inflow, active accounts, new registrations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05_category_inflows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inflows by fund category (Large Cap, Mid Cap, ELSS etc.)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06_folio_count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folio count milestones 2022–2025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07_scheme_performance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Risk-return metrics: Sharpe, Alpha, Beta, Max Drawdown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08_investor_transactions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32,778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SIP, Lumpsum, Redemption transactions for 5,000 investors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09_portfolio_holdings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equity holdings per fund (sector, weight 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10_benchmark_indices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8,050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Nifty 50, Nifty 100, BSE SmallCap, CRISIL Liquid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1508760" cy="1280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CSVs + mfapi.in API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39112" y="100584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39112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39112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39112" y="2011680"/>
            <a:ext cx="1508760" cy="1280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Pandas: clean, ffill, validate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47872" y="2011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58184" y="100584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58184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58184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58184" y="2011680"/>
            <a:ext cx="1508760" cy="1280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star schema (8 tables)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66944" y="2011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77256" y="100584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77256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77256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77256" y="2011680"/>
            <a:ext cx="1508760" cy="1280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metrics + EDA + Scorecard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86016" y="2011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196328" y="1005840"/>
            <a:ext cx="1508760" cy="2560320"/>
          </a:xfrm>
          <a:prstGeom prst="roundRect">
            <a:avLst>
              <a:gd name="adj" fmla="val 606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96328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96328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96328" y="2011680"/>
            <a:ext cx="1508760" cy="1280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BI: 4-page 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Python + Pandas  |  SQLAlchemy + SQLite  |  Matplotlib + Seaborn  |  Power BI Desktop  |  Git + GitHub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real-world fintech pipelines used at Zerodha, Groww, and Paytm Money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Industry Growth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669280" y="914400"/>
          <a:ext cx="3017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06240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5720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 Dec 2025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All-time high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355848" y="4206240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355848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2.7x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355848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growth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to 2026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254496" y="4206240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54496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254496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Folios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Doubled in 4 years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Fund &amp; Investor Insights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212080" y="914400"/>
          <a:ext cx="3474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SBI MF dominates with ₹12.5 lakh crore AUM — 2x growth since 2022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Banking sector has highest portfolio weight across all equity funds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26-35 age group drives 38% of all SIP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 — Scorecard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growth annualised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252 trading days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21408" y="9601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21408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21408" y="1353312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(Rp - Rf) / Std × √252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= 6.5% RBI repo rate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85616" y="9601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85616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85616" y="1353312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vs Nifty 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× 252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9824" y="9601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9824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9824" y="1353312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 std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realistic risk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14032" y="9601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14032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DD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14032" y="1353312"/>
            <a:ext cx="14630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peak-to-trough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per fund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188720"/>
                <a:gridCol w="1005840"/>
                <a:gridCol w="822960"/>
                <a:gridCol w="100584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 House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3yr CAGR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ICICI Prudential MF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29.26%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Axis Mutual 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33.62%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26.08%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HDFC Mutual 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Mirae Asset MF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32.56%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26.98%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Kotak Mahindra MF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Flexi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28.35%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27.33%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= 30% CAGR + 25% Sharpe + 20% Alpha + 15% Expense (inv) + 10% Max Drawdown (inv)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— Benchmark &amp; Risk Comparison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91440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Error 19-24%: funds make active bets vs Nifty 100, not index trackers  |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VaR: worst 5% of trading days breach this loss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1: Industry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39903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Cards: AUM ₹81L Cr, SIP ₹31K Cr, Folios 26.12 Cr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trend line + AUM by fund house bar chart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00600" y="9601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2: Fund Performance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39903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vs Risk scatter (bubble=AUM)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Scorecard table + NAV vs benchmark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Fund House, Category, Plan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3: Investor Analytics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0215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by state bar + SIP/Lumpsum donut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vs avg SIP + monthly volume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State, Age Group, City Tier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306324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4: SIP &amp; Market Trends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50215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Dual-axis: SIP inflow bar + Nifty 50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inflow matrix heatmap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categories FY25 bar chart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pages  |  8 data tables  |  Interactive slicers on every page  |  Drill-through enabled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66928" y="1051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VaR &amp; CVaR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435608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Small Cap has worst daily VaR of -2.69%. Liquid funds near zero risk. CVaR is 20-30% worse than VaR — fat-tailed distributions.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9601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01568" y="1051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Rolling Sharpe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435608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funds maintain Sharpe &gt; 1.0 post-2023, confirming bull market rewarded active managers. 2022 dip visible in all funds.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6208" y="1051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Investor Cohorts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435608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cohort: 4,456 investors, avg SIP ₹10,987. 2025 cohort: ₹12,517 avg — newer investors start with higher amounts.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17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SIP Continuity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401568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 of investors flagged at-risk (avg SIP gap &gt; 35 days). Significant AMC churn risk — automated reminders recommended.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926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01568" y="3017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Sector HHI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3401568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MF most concentrated (HHI=2,064, heavy IT). Funds with HHI &gt; 1,500 carry higher unsystematic risk.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9260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36208" y="3017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Recommender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401568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fund recommender by risk appetite: Low → Liquid funds. Moderate → Large/Flexi Cap. High → Mid/Small Cap.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" cy="566928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14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Risk-Adjusted Fund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Mid Cap tops scorecard (84.5) — 30.44% CAGR, Sharpe 1.18. Ideal for 3-5yr horizon investors.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27632"/>
            <a:ext cx="256032" cy="566928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6824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Industry Momentum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9293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grew 2.7x from ₹11,517 Cr to ₹31,002 Cr. India's equity culture is deepening rapidly.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95144"/>
            <a:ext cx="256032" cy="566928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95144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3500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Diversification Trap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59689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cap funds have 0.85+ correlation. Holding multiple large caps adds cost but not diversification.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62656"/>
            <a:ext cx="256032" cy="56692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62656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017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vs Passive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2644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funds show tracking error of 19-24% vs Nifty 100 — genuine active management, not index hugging.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30168"/>
            <a:ext cx="256032" cy="56692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3016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685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Retention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93192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 SIP at-risk rate signals high discontinuation. AMCs need automated nudge systems urgently.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297680"/>
            <a:ext cx="256032" cy="56692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976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352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Concentration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5994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MF (HHI=2,064) and ABSL MF (HHI=2,007) are heavily concentrated — higher unsystematic risk.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| Mutual Fund Analytics Capstone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github.com/Physics0070/capstone-project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2880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Author: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Soham Joshi  |  jsoham544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|  SQLite  |  Power BI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474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India  |  mfapi.in  |  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8 objectives met  |  All 7 deliverables submitted  |  Code runs without errors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Fintech MF Analytics Platform</dc:title>
  <dc:subject>PptxGenJS Presentation</dc:subject>
  <dc:creator>Soham Joshi</dc:creator>
  <cp:lastModifiedBy>Soham Joshi</cp:lastModifiedBy>
  <cp:revision>1</cp:revision>
  <dcterms:created xsi:type="dcterms:W3CDTF">2026-06-12T07:47:37Z</dcterms:created>
  <dcterms:modified xsi:type="dcterms:W3CDTF">2026-06-12T07:47:37Z</dcterms:modified>
</cp:coreProperties>
</file>